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Spotify Songs' Genre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Major Project</a:t>
            </a:r>
          </a:p>
          <a:p>
            <a:r>
              <a:t>Machine Learning &amp; Recommendation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Large music catalogues are difficult to organize manually.</a:t>
            </a:r>
          </a:p>
          <a:p>
            <a:pPr>
              <a:spcAft>
                <a:spcPts val="800"/>
              </a:spcAft>
              <a:defRPr sz="2200"/>
            </a:pPr>
            <a:r>
              <a:t>We need automated song segmentation using audio characteristics.</a:t>
            </a:r>
          </a:p>
          <a:p>
            <a:pPr>
              <a:spcAft>
                <a:spcPts val="800"/>
              </a:spcAft>
              <a:defRPr sz="2200"/>
            </a:pPr>
            <a:r>
              <a:t>The final system should support genre understanding and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Preprocess and clean the Spotify dataset.</a:t>
            </a:r>
          </a:p>
          <a:p>
            <a:pPr>
              <a:spcAft>
                <a:spcPts val="800"/>
              </a:spcAft>
              <a:defRPr sz="2200"/>
            </a:pPr>
            <a:r>
              <a:t>Perform comprehensive EDA and correlation analysis.</a:t>
            </a:r>
          </a:p>
          <a:p>
            <a:pPr>
              <a:spcAft>
                <a:spcPts val="800"/>
              </a:spcAft>
              <a:defRPr sz="2200"/>
            </a:pPr>
            <a:r>
              <a:t>Discover song segments using K-Means clustering.</a:t>
            </a:r>
          </a:p>
          <a:p>
            <a:pPr>
              <a:spcAft>
                <a:spcPts val="800"/>
              </a:spcAft>
              <a:defRPr sz="2200"/>
            </a:pPr>
            <a:r>
              <a:t>Predict playlist genre using a machine-learning baseline.</a:t>
            </a:r>
          </a:p>
          <a:p>
            <a:pPr>
              <a:spcAft>
                <a:spcPts val="800"/>
              </a:spcAft>
              <a:defRPr sz="2200"/>
            </a:pPr>
            <a:r>
              <a:t>Recommend similar tracks using nearest-neighbor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32,833 supplied track records</a:t>
            </a:r>
          </a:p>
          <a:p>
            <a:pPr>
              <a:spcAft>
                <a:spcPts val="800"/>
              </a:spcAft>
              <a:defRPr sz="2200"/>
            </a:pPr>
            <a:r>
              <a:t>23 columns</a:t>
            </a:r>
          </a:p>
          <a:p>
            <a:pPr>
              <a:spcAft>
                <a:spcPts val="800"/>
              </a:spcAft>
              <a:defRPr sz="2200"/>
            </a:pPr>
            <a:r>
              <a:t>6 playlist genres and 24 subgenres</a:t>
            </a:r>
          </a:p>
          <a:p>
            <a:pPr>
              <a:spcAft>
                <a:spcPts val="800"/>
              </a:spcAft>
              <a:defRPr sz="2200"/>
            </a:pPr>
            <a:r>
              <a:t>10,693 unique artists</a:t>
            </a:r>
          </a:p>
          <a:p>
            <a:pPr>
              <a:spcAft>
                <a:spcPts val="800"/>
              </a:spcAft>
              <a:defRPr sz="2200"/>
            </a:pPr>
            <a:r>
              <a:t>Audio features: danceability, energy, loudness, speechiness, acousticness, instrumentalness, liveness, valence, tempo and duration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Remove exact duplicates</a:t>
            </a:r>
          </a:p>
          <a:p>
            <a:pPr>
              <a:spcAft>
                <a:spcPts val="800"/>
              </a:spcAft>
              <a:defRPr sz="2200"/>
            </a:pPr>
            <a:r>
              <a:t>Handle missing track metadata</a:t>
            </a:r>
          </a:p>
          <a:p>
            <a:pPr>
              <a:spcAft>
                <a:spcPts val="800"/>
              </a:spcAft>
              <a:defRPr sz="2200"/>
            </a:pPr>
            <a:r>
              <a:t>Convert numeric fields to valid numeric types</a:t>
            </a:r>
          </a:p>
          <a:p>
            <a:pPr>
              <a:spcAft>
                <a:spcPts val="800"/>
              </a:spcAft>
              <a:defRPr sz="2200"/>
            </a:pPr>
            <a:r>
              <a:t>Convert duration from milliseconds to minutes</a:t>
            </a:r>
          </a:p>
          <a:p>
            <a:pPr>
              <a:spcAft>
                <a:spcPts val="800"/>
              </a:spcAft>
              <a:defRPr sz="2200"/>
            </a:pPr>
            <a:r>
              <a:t>Clip bounded audio features and popularity to valid ranges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Popularity</a:t>
            </a:r>
          </a:p>
        </p:txBody>
      </p:sp>
      <p:pic>
        <p:nvPicPr>
          <p:cNvPr id="3" name="Picture 2" descr="01_popular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Correlation Matrix</a:t>
            </a:r>
          </a:p>
        </p:txBody>
      </p:sp>
      <p:pic>
        <p:nvPicPr>
          <p:cNvPr id="3" name="Picture 2" descr="05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Genre Feature Profiles</a:t>
            </a:r>
          </a:p>
        </p:txBody>
      </p:sp>
      <p:pic>
        <p:nvPicPr>
          <p:cNvPr id="3" name="Picture 2" descr="08_genre_featu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Standardize numerical audio features.</a:t>
            </a:r>
          </a:p>
          <a:p>
            <a:pPr>
              <a:spcAft>
                <a:spcPts val="800"/>
              </a:spcAft>
              <a:defRPr sz="2200"/>
            </a:pPr>
            <a:r>
              <a:t>Evaluate K=2 to K=10 using silhouette, Calinski-Harabasz and Davies-Bouldin scores.</a:t>
            </a:r>
          </a:p>
          <a:p>
            <a:pPr>
              <a:spcAft>
                <a:spcPts val="800"/>
              </a:spcAft>
              <a:defRPr sz="2200"/>
            </a:pPr>
            <a:r>
              <a:t>Use K=6 for the final practical genre-segmentation space.</a:t>
            </a:r>
          </a:p>
          <a:p>
            <a:pPr>
              <a:spcAft>
                <a:spcPts val="800"/>
              </a:spcAft>
              <a:defRPr sz="2200"/>
            </a:pPr>
            <a:r>
              <a:t>Use PCA only for visualization of the learned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Evaluation</a:t>
            </a:r>
          </a:p>
        </p:txBody>
      </p:sp>
      <p:pic>
        <p:nvPicPr>
          <p:cNvPr id="3" name="Picture 2" descr="11_silhouet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Music Segments</a:t>
            </a:r>
          </a:p>
        </p:txBody>
      </p:sp>
      <p:pic>
        <p:nvPicPr>
          <p:cNvPr id="3" name="Picture 2" descr="12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Random Forest classifier trained on audio features.</a:t>
            </a:r>
          </a:p>
          <a:p>
            <a:pPr>
              <a:spcAft>
                <a:spcPts val="800"/>
              </a:spcAft>
              <a:defRPr sz="2200"/>
            </a:pPr>
            <a:r>
              <a:t>Stratified 80/20 train-test split.</a:t>
            </a:r>
          </a:p>
          <a:p>
            <a:pPr>
              <a:spcAft>
                <a:spcPts val="800"/>
              </a:spcAft>
              <a:defRPr sz="2200"/>
            </a:pPr>
            <a:r>
              <a:t>Accuracy: 55.98%</a:t>
            </a:r>
          </a:p>
          <a:p>
            <a:pPr>
              <a:spcAft>
                <a:spcPts val="800"/>
              </a:spcAft>
              <a:defRPr sz="2200"/>
            </a:pPr>
            <a:r>
              <a:t>Best-performing classes include EDM and Rock; Pop is more difficult to distinguish from neighboring styles.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Input: a song/audio-feature profile.</a:t>
            </a:r>
          </a:p>
          <a:p>
            <a:pPr>
              <a:spcAft>
                <a:spcPts val="800"/>
              </a:spcAft>
              <a:defRPr sz="2200"/>
            </a:pPr>
            <a:r>
              <a:t>Scale the feature vector using the saved scaler.</a:t>
            </a:r>
          </a:p>
          <a:p>
            <a:pPr>
              <a:spcAft>
                <a:spcPts val="800"/>
              </a:spcAft>
              <a:defRPr sz="2200"/>
            </a:pPr>
            <a:r>
              <a:t>Predict playlist genre and K-Means segment.</a:t>
            </a:r>
          </a:p>
          <a:p>
            <a:pPr>
              <a:spcAft>
                <a:spcPts val="800"/>
              </a:spcAft>
              <a:defRPr sz="2200"/>
            </a:pPr>
            <a:r>
              <a:t>Retrieve nearest tracks using Euclidean distance.</a:t>
            </a:r>
          </a:p>
          <a:p>
            <a:pPr>
              <a:spcAft>
                <a:spcPts val="800"/>
              </a:spcAft>
              <a:defRPr sz="2200"/>
            </a:pPr>
            <a:r>
              <a:t>Return track, artist, genre, subgenre and segment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6 final music segments</a:t>
            </a:r>
          </a:p>
          <a:p>
            <a:pPr>
              <a:spcAft>
                <a:spcPts val="800"/>
              </a:spcAft>
              <a:defRPr sz="2200"/>
            </a:pPr>
            <a:r>
              <a:t>K=6 silhouette score: 0.1252</a:t>
            </a:r>
          </a:p>
          <a:p>
            <a:pPr>
              <a:spcAft>
                <a:spcPts val="800"/>
              </a:spcAft>
              <a:defRPr sz="2200"/>
            </a:pPr>
            <a:r>
              <a:t>Genre classification accuracy: 55.98%</a:t>
            </a:r>
          </a:p>
          <a:p>
            <a:pPr>
              <a:spcAft>
                <a:spcPts val="800"/>
              </a:spcAft>
              <a:defRPr sz="2200"/>
            </a:pPr>
            <a:r>
              <a:t>Working recommendation prototype with saved models and Streamlit 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Complete end-to-end ML pipeline achieved.</a:t>
            </a:r>
          </a:p>
          <a:p>
            <a:pPr>
              <a:spcAft>
                <a:spcPts val="800"/>
              </a:spcAft>
              <a:defRPr sz="2200"/>
            </a:pPr>
            <a:r>
              <a:t>Content-based recommendations are functional.</a:t>
            </a:r>
          </a:p>
          <a:p>
            <a:pPr>
              <a:spcAft>
                <a:spcPts val="800"/>
              </a:spcAft>
              <a:defRPr sz="2200"/>
            </a:pPr>
            <a:r>
              <a:t>Future: collaborative filtering, user profiles, embeddings, hybrid recommendation and live API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